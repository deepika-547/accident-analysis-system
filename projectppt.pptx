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3" r:id="rId7"/>
    <p:sldId id="265" r:id="rId8"/>
    <p:sldId id="286" r:id="rId9"/>
    <p:sldId id="287" r:id="rId10"/>
    <p:sldId id="288" r:id="rId11"/>
    <p:sldId id="289" r:id="rId12"/>
    <p:sldId id="290" r:id="rId13"/>
    <p:sldId id="291" r:id="rId14"/>
    <p:sldId id="270" r:id="rId15"/>
    <p:sldId id="272" r:id="rId16"/>
    <p:sldId id="275"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4660"/>
  </p:normalViewPr>
  <p:slideViewPr>
    <p:cSldViewPr snapToGrid="0">
      <p:cViewPr varScale="1">
        <p:scale>
          <a:sx n="88" d="100"/>
          <a:sy n="88" d="100"/>
        </p:scale>
        <p:origin x="-475"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8FB6F6-B19A-4847-A003-8D2CCF471827}" type="slidenum">
              <a:rPr lang="en-IN" smtClean="0"/>
              <a:t>‹#›</a:t>
            </a:fld>
            <a:endParaRPr lang="en-IN"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95A108-0287-4325-AF67-95F83FBFDE74}" type="datetimeFigureOut">
              <a:rPr lang="en-IN" smtClean="0"/>
              <a:t>29-12-2025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8FB6F6-B19A-4847-A003-8D2CCF471827}"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C95A108-0287-4325-AF67-95F83FBFDE74}" type="datetimeFigureOut">
              <a:rPr lang="en-IN" smtClean="0"/>
              <a:t>29-12-2025</a:t>
            </a:fld>
            <a:endParaRPr lang="en-IN"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08FB6F6-B19A-4847-A003-8D2CCF471827}" type="slidenum">
              <a:rPr lang="en-IN" smtClean="0"/>
              <a:t>‹#›</a:t>
            </a:fld>
            <a:endParaRPr lang="en-IN"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pandas.pydata.org/" TargetMode="External"/><Relationship Id="rId2" Type="http://schemas.openxmlformats.org/officeDocument/2006/relationships/hyperlink" Target="https://docs.python.org/" TargetMode="External"/><Relationship Id="rId1" Type="http://schemas.openxmlformats.org/officeDocument/2006/relationships/slideLayout" Target="../slideLayouts/slideLayout2.xml"/><Relationship Id="rId5" Type="http://schemas.openxmlformats.org/officeDocument/2006/relationships/hyperlink" Target="https://streamlit.io/" TargetMode="External"/><Relationship Id="rId4" Type="http://schemas.openxmlformats.org/officeDocument/2006/relationships/hyperlink" Target="https://plotly.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838200" y="197225"/>
            <a:ext cx="10515600" cy="1210234"/>
          </a:xfrm>
        </p:spPr>
        <p:txBody>
          <a:bodyPr>
            <a:noAutofit/>
          </a:bodyPr>
          <a:lstStyle/>
          <a:p>
            <a:pPr marL="20955">
              <a:lnSpc>
                <a:spcPct val="145000"/>
              </a:lnSpc>
              <a:spcAft>
                <a:spcPts val="690"/>
              </a:spcAft>
            </a:pPr>
            <a:r>
              <a:rPr lang="en-US" altLang="en-IN" sz="4000" dirty="0" smtClean="0">
                <a:latin typeface="Times New Roman" panose="02020603050405020304" pitchFamily="18" charset="0"/>
                <a:cs typeface="Times New Roman" panose="02020603050405020304" pitchFamily="18" charset="0"/>
              </a:rPr>
              <a:t>accidents data analysis system</a:t>
            </a:r>
            <a:endParaRPr lang="en-US" altLang="en-IN" sz="6600" dirty="0">
              <a:latin typeface="Times New Roman" panose="02020603050405020304" pitchFamily="18" charset="0"/>
              <a:cs typeface="Times New Roman" panose="02020603050405020304" pitchFamily="18" charset="0"/>
            </a:endParaRPr>
          </a:p>
        </p:txBody>
      </p:sp>
      <p:sp>
        <p:nvSpPr>
          <p:cNvPr id="13" name="Content Placeholder 12"/>
          <p:cNvSpPr>
            <a:spLocks noGrp="1"/>
          </p:cNvSpPr>
          <p:nvPr>
            <p:ph idx="1"/>
          </p:nvPr>
        </p:nvSpPr>
        <p:spPr>
          <a:xfrm>
            <a:off x="838200" y="1326776"/>
            <a:ext cx="10515600" cy="4850187"/>
          </a:xfrm>
        </p:spPr>
        <p:txBody>
          <a:bodyPr/>
          <a:lstStyle/>
          <a:p>
            <a:pPr marL="0" indent="0">
              <a:buNone/>
            </a:pPr>
            <a:r>
              <a:rPr lang="en-US" dirty="0"/>
              <a:t>                         </a:t>
            </a:r>
          </a:p>
          <a:p>
            <a:pPr marL="0" indent="0">
              <a:buNone/>
            </a:pPr>
            <a:r>
              <a:rPr lang="en-US" dirty="0"/>
              <a:t>    </a:t>
            </a:r>
            <a:r>
              <a:rPr lang="en-US" dirty="0">
                <a:latin typeface="Times New Roman" panose="02020603050405020304" pitchFamily="18" charset="0"/>
                <a:cs typeface="Times New Roman" panose="02020603050405020304" pitchFamily="18" charset="0"/>
              </a:rPr>
              <a:t>Project Members :                                                                                 Mentor :</a:t>
            </a: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Thota Deepika Lakshmi Nageswari     </a:t>
            </a:r>
            <a:r>
              <a:rPr lang="en-IN" sz="1800" dirty="0" smtClean="0">
                <a:latin typeface="Times New Roman" panose="02020603050405020304" pitchFamily="18" charset="0"/>
                <a:cs typeface="Times New Roman" panose="02020603050405020304" pitchFamily="18" charset="0"/>
              </a:rPr>
              <a:t>      </a:t>
            </a:r>
            <a:r>
              <a:rPr lang="en-US" altLang="en-IN" sz="1800" dirty="0" smtClean="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                  </a:t>
            </a:r>
            <a:r>
              <a:rPr lang="en-US" sz="1800" b="1" dirty="0" err="1" smtClean="0">
                <a:effectLst/>
                <a:latin typeface="Times New Roman" panose="02020603050405020304" pitchFamily="18" charset="0"/>
                <a:cs typeface="Times New Roman" panose="02020603050405020304" pitchFamily="18" charset="0"/>
              </a:rPr>
              <a:t>Mr.G.Tirupathi</a:t>
            </a:r>
            <a:endParaRPr lang="en-IN" sz="18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US" altLang="en-IN" sz="2000" dirty="0" smtClean="0">
                <a:latin typeface="Times New Roman" panose="02020603050405020304" pitchFamily="18" charset="0"/>
                <a:cs typeface="Times New Roman" panose="02020603050405020304" pitchFamily="18" charset="0"/>
              </a:rPr>
              <a:t>323103211054</a:t>
            </a:r>
            <a:r>
              <a:rPr lang="en-US" altLang="en-IN" sz="1600" dirty="0" smtClean="0">
                <a:latin typeface="Times New Roman" panose="02020603050405020304" pitchFamily="18" charset="0"/>
                <a:cs typeface="Times New Roman" panose="02020603050405020304" pitchFamily="18" charset="0"/>
              </a:rPr>
              <a:t>                           </a:t>
            </a:r>
            <a:r>
              <a:rPr lang="en-IN" sz="1600" dirty="0" smtClean="0">
                <a:latin typeface="Times New Roman" panose="02020603050405020304" pitchFamily="18" charset="0"/>
                <a:cs typeface="Times New Roman" panose="02020603050405020304" pitchFamily="18" charset="0"/>
              </a:rPr>
              <a:t>                                                                            </a:t>
            </a:r>
            <a:r>
              <a:rPr lang="en-US" altLang="en-IN" sz="1600" dirty="0" smtClean="0">
                <a:latin typeface="Times New Roman" panose="02020603050405020304" pitchFamily="18" charset="0"/>
                <a:cs typeface="Times New Roman" panose="02020603050405020304" pitchFamily="18" charset="0"/>
              </a:rPr>
              <a:t>    </a:t>
            </a:r>
            <a:r>
              <a:rPr lang="en-US" altLang="en-IN" sz="1600" dirty="0" smtClean="0">
                <a:latin typeface="Times New Roman" panose="02020603050405020304" pitchFamily="18" charset="0"/>
                <a:cs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Professor</a:t>
            </a:r>
            <a:r>
              <a:rPr lang="en-IN" sz="1600" dirty="0">
                <a:latin typeface="Times New Roman" panose="02020603050405020304" pitchFamily="18" charset="0"/>
                <a:cs typeface="Times New Roman" panose="02020603050405020304" pitchFamily="18" charset="0"/>
              </a:rPr>
              <a:t> </a:t>
            </a:r>
            <a:endPar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sz="1600" b="1" dirty="0">
                <a:effectLst/>
                <a:latin typeface="Times New Roman" panose="02020603050405020304" pitchFamily="18" charset="0"/>
                <a:cs typeface="Times New Roman" panose="02020603050405020304" pitchFamily="18" charset="0"/>
              </a:rPr>
              <a:t>                                                                                                                                                Information Technology</a:t>
            </a:r>
            <a:endParaRPr lang="en-IN" sz="1600" dirty="0">
              <a:latin typeface="Times New Roman" panose="02020603050405020304" pitchFamily="18" charset="0"/>
              <a:cs typeface="Times New Roman" panose="02020603050405020304" pitchFamily="18" charset="0"/>
            </a:endParaRPr>
          </a:p>
          <a:p>
            <a:pPr marL="0" indent="0">
              <a:buNone/>
            </a:pPr>
            <a:r>
              <a:rPr lang="en-IN" dirty="0"/>
              <a:t>                                    </a:t>
            </a:r>
          </a:p>
          <a:p>
            <a:pPr marL="0" indent="0">
              <a:buNone/>
            </a:pPr>
            <a:r>
              <a:rPr lang="en-IN" dirty="0"/>
              <a:t>                                         </a:t>
            </a:r>
            <a:r>
              <a:rPr lang="en-US" altLang="en-IN" dirty="0"/>
              <a:t> </a:t>
            </a:r>
            <a:r>
              <a:rPr lang="en-IN" sz="2400" dirty="0">
                <a:latin typeface="Times New Roman" panose="02020603050405020304" pitchFamily="18" charset="0"/>
                <a:cs typeface="Times New Roman" panose="02020603050405020304" pitchFamily="18" charset="0"/>
              </a:rPr>
              <a:t>Department of Information Technology </a:t>
            </a:r>
          </a:p>
          <a:p>
            <a:pPr marL="0" indent="0">
              <a:buNone/>
            </a:pPr>
            <a:endParaRPr lang="en-IN" dirty="0"/>
          </a:p>
        </p:txBody>
      </p:sp>
      <p:pic>
        <p:nvPicPr>
          <p:cNvPr id="14" name="Picture 13"/>
          <p:cNvPicPr/>
          <p:nvPr/>
        </p:nvPicPr>
        <p:blipFill>
          <a:blip r:embed="rId2" cstate="print"/>
          <a:srcRect/>
          <a:stretch>
            <a:fillRect/>
          </a:stretch>
        </p:blipFill>
        <p:spPr>
          <a:xfrm>
            <a:off x="4947152" y="1889451"/>
            <a:ext cx="1874185" cy="1862418"/>
          </a:xfrm>
          <a:prstGeom prst="rect">
            <a:avLst/>
          </a:prstGeom>
        </p:spPr>
      </p:pic>
      <p:pic>
        <p:nvPicPr>
          <p:cNvPr id="4" name="Google Shape;86;p13"/>
          <p:cNvPicPr preferRelativeResize="0"/>
          <p:nvPr/>
        </p:nvPicPr>
        <p:blipFill>
          <a:blip r:embed="rId3">
            <a:extLst>
              <a:ext uri="{28A0092B-C50C-407E-A947-70E740481C1C}">
                <a14:useLocalDpi xmlns:a14="http://schemas.microsoft.com/office/drawing/2010/main" val="0"/>
              </a:ext>
            </a:extLst>
          </a:blip>
          <a:srcRect b="19780"/>
          <a:stretch/>
        </p:blipFill>
        <p:spPr>
          <a:xfrm>
            <a:off x="1525497" y="4854767"/>
            <a:ext cx="9141157" cy="1060842"/>
          </a:xfrm>
          <a:prstGeom prst="rect">
            <a:avLst/>
          </a:prstGeom>
          <a:solidFill>
            <a:schemeClr val="tx1"/>
          </a:solid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nvPr>
        </p:nvGraphicFramePr>
        <p:xfrm>
          <a:off x="2979577" y="743491"/>
          <a:ext cx="6817488" cy="5579000"/>
        </p:xfrm>
        <a:graphic>
          <a:graphicData uri="http://schemas.openxmlformats.org/drawingml/2006/table">
            <a:tbl>
              <a:tblPr firstRow="1" bandRow="1">
                <a:tableStyleId>{5C22544A-7EE6-4342-B048-85BDC9FD1C3A}</a:tableStyleId>
              </a:tblPr>
              <a:tblGrid>
                <a:gridCol w="6817488">
                  <a:extLst>
                    <a:ext uri="{9D8B030D-6E8A-4147-A177-3AD203B41FA5}">
                      <a16:colId xmlns="" xmlns:a16="http://schemas.microsoft.com/office/drawing/2014/main" val="20000"/>
                    </a:ext>
                  </a:extLst>
                </a:gridCol>
              </a:tblGrid>
              <a:tr h="557900">
                <a:tc>
                  <a:txBody>
                    <a:bodyPr/>
                    <a:lstStyle/>
                    <a:p>
                      <a:r>
                        <a:rPr lang="en-US" dirty="0"/>
                        <a:t>                                                INDEX</a:t>
                      </a:r>
                      <a:endParaRPr lang="en-IN" dirty="0"/>
                    </a:p>
                  </a:txBody>
                  <a:tcPr>
                    <a:solidFill>
                      <a:schemeClr val="tx2">
                        <a:lumMod val="25000"/>
                      </a:schemeClr>
                    </a:solidFill>
                  </a:tcPr>
                </a:tc>
                <a:extLst>
                  <a:ext uri="{0D108BD9-81ED-4DB2-BD59-A6C34878D82A}">
                    <a16:rowId xmlns="" xmlns:a16="http://schemas.microsoft.com/office/drawing/2014/main" val="10000"/>
                  </a:ext>
                </a:extLst>
              </a:tr>
              <a:tr h="557900">
                <a:tc>
                  <a:txBody>
                    <a:bodyPr/>
                    <a:lstStyle/>
                    <a:p>
                      <a:r>
                        <a:rPr lang="en-US" dirty="0"/>
                        <a:t>1.Abstract</a:t>
                      </a:r>
                      <a:endParaRPr lang="en-IN" dirty="0"/>
                    </a:p>
                  </a:txBody>
                  <a:tcPr/>
                </a:tc>
                <a:extLst>
                  <a:ext uri="{0D108BD9-81ED-4DB2-BD59-A6C34878D82A}">
                    <a16:rowId xmlns="" xmlns:a16="http://schemas.microsoft.com/office/drawing/2014/main" val="10001"/>
                  </a:ext>
                </a:extLst>
              </a:tr>
              <a:tr h="557900">
                <a:tc>
                  <a:txBody>
                    <a:bodyPr/>
                    <a:lstStyle/>
                    <a:p>
                      <a:r>
                        <a:rPr lang="en-US" dirty="0"/>
                        <a:t>2.Existing System</a:t>
                      </a:r>
                      <a:endParaRPr lang="en-IN" dirty="0"/>
                    </a:p>
                  </a:txBody>
                  <a:tcPr/>
                </a:tc>
                <a:extLst>
                  <a:ext uri="{0D108BD9-81ED-4DB2-BD59-A6C34878D82A}">
                    <a16:rowId xmlns="" xmlns:a16="http://schemas.microsoft.com/office/drawing/2014/main" val="10002"/>
                  </a:ext>
                </a:extLst>
              </a:tr>
              <a:tr h="557900">
                <a:tc>
                  <a:txBody>
                    <a:bodyPr/>
                    <a:lstStyle/>
                    <a:p>
                      <a:r>
                        <a:rPr lang="en-US" dirty="0"/>
                        <a:t>3.Proposed System</a:t>
                      </a:r>
                      <a:endParaRPr lang="en-IN" dirty="0"/>
                    </a:p>
                  </a:txBody>
                  <a:tcPr/>
                </a:tc>
                <a:extLst>
                  <a:ext uri="{0D108BD9-81ED-4DB2-BD59-A6C34878D82A}">
                    <a16:rowId xmlns="" xmlns:a16="http://schemas.microsoft.com/office/drawing/2014/main" val="10003"/>
                  </a:ext>
                </a:extLst>
              </a:tr>
              <a:tr h="557900">
                <a:tc>
                  <a:txBody>
                    <a:bodyPr/>
                    <a:lstStyle/>
                    <a:p>
                      <a:r>
                        <a:rPr lang="en-US" dirty="0"/>
                        <a:t>4.Software Requirements</a:t>
                      </a:r>
                      <a:endParaRPr lang="en-IN" dirty="0"/>
                    </a:p>
                  </a:txBody>
                  <a:tcPr/>
                </a:tc>
                <a:extLst>
                  <a:ext uri="{0D108BD9-81ED-4DB2-BD59-A6C34878D82A}">
                    <a16:rowId xmlns="" xmlns:a16="http://schemas.microsoft.com/office/drawing/2014/main" val="10004"/>
                  </a:ext>
                </a:extLst>
              </a:tr>
              <a:tr h="557900">
                <a:tc>
                  <a:txBody>
                    <a:bodyPr/>
                    <a:lstStyle/>
                    <a:p>
                      <a:r>
                        <a:rPr lang="en-US" dirty="0"/>
                        <a:t>5.Implementation</a:t>
                      </a:r>
                      <a:endParaRPr lang="en-IN" dirty="0"/>
                    </a:p>
                  </a:txBody>
                  <a:tcPr/>
                </a:tc>
                <a:extLst>
                  <a:ext uri="{0D108BD9-81ED-4DB2-BD59-A6C34878D82A}">
                    <a16:rowId xmlns="" xmlns:a16="http://schemas.microsoft.com/office/drawing/2014/main" val="10005"/>
                  </a:ext>
                </a:extLst>
              </a:tr>
              <a:tr h="557900">
                <a:tc>
                  <a:txBody>
                    <a:bodyPr/>
                    <a:lstStyle/>
                    <a:p>
                      <a:r>
                        <a:rPr lang="en-US" dirty="0"/>
                        <a:t>6.Results</a:t>
                      </a:r>
                      <a:endParaRPr lang="en-IN" dirty="0"/>
                    </a:p>
                  </a:txBody>
                  <a:tcPr/>
                </a:tc>
                <a:extLst>
                  <a:ext uri="{0D108BD9-81ED-4DB2-BD59-A6C34878D82A}">
                    <a16:rowId xmlns="" xmlns:a16="http://schemas.microsoft.com/office/drawing/2014/main" val="10006"/>
                  </a:ext>
                </a:extLst>
              </a:tr>
              <a:tr h="557900">
                <a:tc>
                  <a:txBody>
                    <a:bodyPr/>
                    <a:lstStyle/>
                    <a:p>
                      <a:r>
                        <a:rPr lang="en-US" dirty="0"/>
                        <a:t>7.Conclusion</a:t>
                      </a:r>
                      <a:endParaRPr lang="en-IN" dirty="0"/>
                    </a:p>
                  </a:txBody>
                  <a:tcPr/>
                </a:tc>
                <a:extLst>
                  <a:ext uri="{0D108BD9-81ED-4DB2-BD59-A6C34878D82A}">
                    <a16:rowId xmlns="" xmlns:a16="http://schemas.microsoft.com/office/drawing/2014/main" val="10007"/>
                  </a:ext>
                </a:extLst>
              </a:tr>
              <a:tr h="557900">
                <a:tc>
                  <a:txBody>
                    <a:bodyPr/>
                    <a:lstStyle/>
                    <a:p>
                      <a:r>
                        <a:rPr lang="en-US" dirty="0"/>
                        <a:t>8.Future Enhancements</a:t>
                      </a:r>
                      <a:endParaRPr lang="en-IN" dirty="0"/>
                    </a:p>
                  </a:txBody>
                  <a:tcPr/>
                </a:tc>
                <a:extLst>
                  <a:ext uri="{0D108BD9-81ED-4DB2-BD59-A6C34878D82A}">
                    <a16:rowId xmlns="" xmlns:a16="http://schemas.microsoft.com/office/drawing/2014/main" val="10008"/>
                  </a:ext>
                </a:extLst>
              </a:tr>
              <a:tr h="557900">
                <a:tc>
                  <a:txBody>
                    <a:bodyPr/>
                    <a:lstStyle/>
                    <a:p>
                      <a:r>
                        <a:rPr lang="en-US" dirty="0"/>
                        <a:t>9.References</a:t>
                      </a:r>
                      <a:endParaRPr lang="en-IN" dirty="0"/>
                    </a:p>
                  </a:txBody>
                  <a:tcPr/>
                </a:tc>
                <a:extLst>
                  <a:ext uri="{0D108BD9-81ED-4DB2-BD59-A6C34878D82A}">
                    <a16:rowId xmlns="" xmlns:a16="http://schemas.microsoft.com/office/drawing/2014/main" val="1000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609600"/>
            <a:ext cx="10353675" cy="1218565"/>
          </a:xfrm>
        </p:spPr>
        <p:txBody>
          <a:bodyPr/>
          <a:lstStyle/>
          <a:p>
            <a:pPr algn="just"/>
            <a:r>
              <a:rPr lang="en-US" dirty="0"/>
              <a:t>                           </a:t>
            </a:r>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7740" y="2308511"/>
            <a:ext cx="10353675" cy="2440772"/>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The Traffic Accident Data Analysis System is a data science–based application developed using Python to analyze and visualize road accident data. The system processes accident records to identify patterns related to accident severity, weather conditions, road surface types, lighting conditions, and peak accident hours. An interactive web interface is built using Streamlit, enabling users to explore accident trends through dynamic charts and dashboards. The project helps in understanding critical factors contributing to accidents and supports decision-making for improving road safety and traffic management.</a:t>
            </a:r>
          </a:p>
          <a:p>
            <a:pPr marL="0" indent="0"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3915" y="295154"/>
            <a:ext cx="8911687" cy="730128"/>
          </a:xfrm>
        </p:spPr>
        <p:txBody>
          <a:bodyPr/>
          <a:lstStyle/>
          <a:p>
            <a:pPr algn="just"/>
            <a:r>
              <a:rPr lang="en-US" dirty="0"/>
              <a:t>               </a:t>
            </a:r>
            <a:r>
              <a:rPr lang="en-US" dirty="0">
                <a:latin typeface="Times New Roman" panose="02020603050405020304" pitchFamily="18" charset="0"/>
                <a:cs typeface="Times New Roman" panose="02020603050405020304" pitchFamily="18" charset="0"/>
              </a:rPr>
              <a:t>EXISTING SYSTEM</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38150" y="1275080"/>
            <a:ext cx="11315065" cy="4739640"/>
          </a:xfrm>
        </p:spPr>
        <p:txBody>
          <a:bodyPr>
            <a:noAutofit/>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Manual Data Analysis: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Accident data is traditionally analyzed using spreadsheets and static reports, which is time-consuming and error-prone.</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Limited Visualization: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Existing systems provide basic charts that lack interactivity and detailed insights.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Monthly accident reports without time-based or weather-based filtering.</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No User Interaction: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Users cannot dynamically explore accident patterns or drill down into specific factors such as peak hours or road conditions.</a:t>
            </a:r>
          </a:p>
          <a:p>
            <a:pPr marL="800100" lvl="1" indent="-342900" algn="l">
              <a:buFont typeface="+mj-lt"/>
              <a:buAutoNum type="arabicPeriod"/>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957" y="80433"/>
            <a:ext cx="11190288" cy="762000"/>
          </a:xfrm>
        </p:spPr>
        <p:txBody>
          <a:bodyPr/>
          <a:lstStyle/>
          <a:p>
            <a:r>
              <a:rPr lang="en-US" dirty="0">
                <a:latin typeface="Times New Roman" panose="02020603050405020304" pitchFamily="18" charset="0"/>
                <a:cs typeface="Times New Roman" panose="02020603050405020304" pitchFamily="18" charset="0"/>
              </a:rPr>
              <a:t>    PROPOSED SYSTEM</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 xmlns:a16="http://schemas.microsoft.com/office/drawing/2014/main" id="{4821F198-FCDD-0D81-DD5C-E616AA174526}"/>
              </a:ext>
            </a:extLst>
          </p:cNvPr>
          <p:cNvSpPr>
            <a:spLocks noGrp="1" noChangeArrowheads="1"/>
          </p:cNvSpPr>
          <p:nvPr>
            <p:ph idx="1"/>
          </p:nvPr>
        </p:nvSpPr>
        <p:spPr bwMode="auto">
          <a:xfrm>
            <a:off x="752669" y="1411049"/>
            <a:ext cx="10776858" cy="5137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mj-lt"/>
              <a:buAutoNum type="arabicPeriod"/>
            </a:pPr>
            <a:r>
              <a:rPr lang="en-US" sz="1800" b="1" dirty="0">
                <a:latin typeface="Times New Roman" panose="02020603050405020304" pitchFamily="18" charset="0"/>
                <a:cs typeface="Times New Roman" panose="02020603050405020304" pitchFamily="18" charset="0"/>
              </a:rPr>
              <a:t>Interactive Data Analysis:</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Uses Python and Streamlit to allow users to interact with accident data dynamically.</a:t>
            </a:r>
          </a:p>
          <a:p>
            <a:pPr marL="342900" indent="-342900">
              <a:buFont typeface="+mj-lt"/>
              <a:buAutoNum type="arabicPeriod"/>
            </a:pPr>
            <a:r>
              <a:rPr lang="en-US" sz="1800" b="1" dirty="0">
                <a:latin typeface="Times New Roman" panose="02020603050405020304" pitchFamily="18" charset="0"/>
                <a:cs typeface="Times New Roman" panose="02020603050405020304" pitchFamily="18" charset="0"/>
              </a:rPr>
              <a:t>Visual Analytics:</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Provides pie charts, bar charts, heatmaps, sunburst charts, and area graphs for clear understanding.</a:t>
            </a:r>
          </a:p>
          <a:p>
            <a:pPr marL="342900" indent="-342900">
              <a:buFont typeface="+mj-lt"/>
              <a:buAutoNum type="arabicPeriod"/>
            </a:pPr>
            <a:r>
              <a:rPr lang="en-US" sz="1800" b="1" dirty="0">
                <a:latin typeface="Times New Roman" panose="02020603050405020304" pitchFamily="18" charset="0"/>
                <a:cs typeface="Times New Roman" panose="02020603050405020304" pitchFamily="18" charset="0"/>
              </a:rPr>
              <a:t>Real-Time Insights:</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Automatically computes peak accident hours, most affected days, and dominant weather conditions.</a:t>
            </a:r>
          </a:p>
          <a:p>
            <a:pPr marL="342900" indent="-342900">
              <a:buFont typeface="+mj-lt"/>
              <a:buAutoNum type="arabicPeriod"/>
            </a:pPr>
            <a:r>
              <a:rPr lang="en-US" sz="1800" b="1" dirty="0">
                <a:latin typeface="Times New Roman" panose="02020603050405020304" pitchFamily="18" charset="0"/>
                <a:cs typeface="Times New Roman" panose="02020603050405020304" pitchFamily="18" charset="0"/>
              </a:rPr>
              <a:t>User-Friendly Interface:</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Sidebar-based navigation allows users to select different analysis modules easily.</a:t>
            </a:r>
          </a:p>
          <a:p>
            <a:pPr marL="342900" indent="-342900">
              <a:buFont typeface="+mj-lt"/>
              <a:buAutoNum type="arabicPeriod"/>
            </a:pPr>
            <a:r>
              <a:rPr lang="en-US" sz="1800" b="1" dirty="0">
                <a:latin typeface="Times New Roman" panose="02020603050405020304" pitchFamily="18" charset="0"/>
                <a:cs typeface="Times New Roman" panose="02020603050405020304" pitchFamily="18" charset="0"/>
              </a:rPr>
              <a:t>Scalability:</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Can handle large datasets efficiently using Pandas and optimized data processing.</a:t>
            </a:r>
          </a:p>
          <a:p>
            <a:pPr marL="342900" indent="-342900">
              <a:buFont typeface="+mj-lt"/>
              <a:buAutoNum type="arabicPeriod"/>
            </a:pPr>
            <a:r>
              <a:rPr lang="en-US" sz="1800" b="1" dirty="0">
                <a:latin typeface="Times New Roman" panose="02020603050405020304" pitchFamily="18" charset="0"/>
                <a:cs typeface="Times New Roman" panose="02020603050405020304" pitchFamily="18" charset="0"/>
              </a:rPr>
              <a:t>Applications:</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Traffic planning, road safety analysis, policy making, and academic research.</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422987"/>
            <a:ext cx="10353761" cy="1326321"/>
          </a:xfrm>
        </p:spPr>
        <p:txBody>
          <a:bodyPr/>
          <a:lstStyle/>
          <a:p>
            <a:r>
              <a:rPr lang="en-US" dirty="0">
                <a:latin typeface="Times New Roman" panose="02020603050405020304" pitchFamily="18" charset="0"/>
                <a:cs typeface="Times New Roman" panose="02020603050405020304" pitchFamily="18" charset="0"/>
              </a:rPr>
              <a:t>         SOFTWARE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5152" y="2136709"/>
            <a:ext cx="5719664" cy="4217437"/>
          </a:xfrm>
        </p:spPr>
        <p:txBody>
          <a:bodyPr>
            <a:normAutofit/>
          </a:bodyPr>
          <a:lstStyle/>
          <a:p>
            <a:r>
              <a:rPr lang="en-IN" b="1" dirty="0">
                <a:latin typeface="Times New Roman" panose="02020603050405020304" pitchFamily="18" charset="0"/>
                <a:cs typeface="Times New Roman" panose="02020603050405020304" pitchFamily="18" charset="0"/>
              </a:rPr>
              <a:t>Programming Language:</a:t>
            </a:r>
            <a:endParaRPr lang="en-IN" dirty="0">
              <a:latin typeface="Times New Roman" panose="02020603050405020304" pitchFamily="18" charset="0"/>
              <a:cs typeface="Times New Roman" panose="02020603050405020304" pitchFamily="18" charset="0"/>
            </a:endParaRPr>
          </a:p>
          <a:p>
            <a:pPr marL="0" indent="0">
              <a:buNone/>
            </a:pPr>
            <a:r>
              <a:rPr lang="en-IN" dirty="0" smtClean="0">
                <a:latin typeface="Times New Roman" panose="02020603050405020304" pitchFamily="18" charset="0"/>
                <a:cs typeface="Times New Roman" panose="02020603050405020304" pitchFamily="18" charset="0"/>
              </a:rPr>
              <a:t>        Python </a:t>
            </a:r>
            <a:r>
              <a:rPr lang="en-IN" dirty="0">
                <a:latin typeface="Times New Roman" panose="02020603050405020304" pitchFamily="18" charset="0"/>
                <a:cs typeface="Times New Roman" panose="02020603050405020304" pitchFamily="18" charset="0"/>
              </a:rPr>
              <a:t>3.x</a:t>
            </a:r>
          </a:p>
          <a:p>
            <a:r>
              <a:rPr lang="en-IN" b="1" dirty="0">
                <a:latin typeface="Times New Roman" panose="02020603050405020304" pitchFamily="18" charset="0"/>
                <a:cs typeface="Times New Roman" panose="02020603050405020304" pitchFamily="18" charset="0"/>
              </a:rPr>
              <a:t>Libraries:</a:t>
            </a:r>
            <a:endParaRPr lang="en-IN" dirty="0">
              <a:latin typeface="Times New Roman" panose="02020603050405020304" pitchFamily="18" charset="0"/>
              <a:cs typeface="Times New Roman" panose="02020603050405020304" pitchFamily="18" charset="0"/>
            </a:endParaRPr>
          </a:p>
          <a:p>
            <a:pPr marL="0" indent="0">
              <a:buNone/>
            </a:pPr>
            <a:r>
              <a:rPr lang="en-IN" dirty="0" smtClean="0">
                <a:latin typeface="Times New Roman" panose="02020603050405020304" pitchFamily="18" charset="0"/>
                <a:cs typeface="Times New Roman" panose="02020603050405020304" pitchFamily="18" charset="0"/>
              </a:rPr>
              <a:t>         Pandas </a:t>
            </a:r>
            <a:r>
              <a:rPr lang="en-IN" dirty="0">
                <a:latin typeface="Times New Roman" panose="02020603050405020304" pitchFamily="18" charset="0"/>
                <a:cs typeface="Times New Roman" panose="02020603050405020304" pitchFamily="18" charset="0"/>
              </a:rPr>
              <a:t>– Data manipulation</a:t>
            </a:r>
          </a:p>
          <a:p>
            <a:pPr marL="0" indent="0">
              <a:buNone/>
            </a:pPr>
            <a:r>
              <a:rPr lang="en-IN" dirty="0" smtClean="0">
                <a:latin typeface="Times New Roman" panose="02020603050405020304" pitchFamily="18" charset="0"/>
                <a:cs typeface="Times New Roman" panose="02020603050405020304" pitchFamily="18" charset="0"/>
              </a:rPr>
              <a:t>         Plotly </a:t>
            </a:r>
            <a:r>
              <a:rPr lang="en-IN" dirty="0">
                <a:latin typeface="Times New Roman" panose="02020603050405020304" pitchFamily="18" charset="0"/>
                <a:cs typeface="Times New Roman" panose="02020603050405020304" pitchFamily="18" charset="0"/>
              </a:rPr>
              <a:t>– Interactive visualizations</a:t>
            </a:r>
          </a:p>
          <a:p>
            <a:pPr marL="0" indent="0">
              <a:buNone/>
            </a:pP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       Streamlit </a:t>
            </a:r>
            <a:r>
              <a:rPr lang="en-IN" dirty="0">
                <a:latin typeface="Times New Roman" panose="02020603050405020304" pitchFamily="18" charset="0"/>
                <a:cs typeface="Times New Roman" panose="02020603050405020304" pitchFamily="18" charset="0"/>
              </a:rPr>
              <a:t>– Web application framework</a:t>
            </a:r>
          </a:p>
          <a:p>
            <a:endParaRPr lang="en-US" alt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5CC75E9A-E782-90EE-372F-FD4DD2D312DD}"/>
              </a:ext>
            </a:extLst>
          </p:cNvPr>
          <p:cNvSpPr txBox="1"/>
          <p:nvPr/>
        </p:nvSpPr>
        <p:spPr>
          <a:xfrm>
            <a:off x="6450536" y="2365291"/>
            <a:ext cx="5309118" cy="1938992"/>
          </a:xfrm>
          <a:prstGeom prst="rect">
            <a:avLst/>
          </a:prstGeom>
          <a:noFill/>
        </p:spPr>
        <p:txBody>
          <a:bodyPr wrap="square" rtlCol="0">
            <a:spAutoFit/>
          </a:bodyPr>
          <a:lstStyle/>
          <a:p>
            <a:pPr marL="457200" indent="-4572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Tools:</a:t>
            </a:r>
            <a:endParaRPr lang="en-IN"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NotePad</a:t>
            </a:r>
          </a:p>
          <a:p>
            <a:pPr algn="just"/>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Command </a:t>
            </a:r>
            <a:r>
              <a:rPr lang="en-US" sz="2000" dirty="0">
                <a:latin typeface="Times New Roman" panose="02020603050405020304" pitchFamily="18" charset="0"/>
                <a:cs typeface="Times New Roman" panose="02020603050405020304" pitchFamily="18" charset="0"/>
              </a:rPr>
              <a:t>prompt</a:t>
            </a:r>
            <a:endParaRPr lang="en-IN" sz="20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000" b="1" dirty="0" smtClean="0">
                <a:latin typeface="Times New Roman" panose="02020603050405020304" pitchFamily="18" charset="0"/>
                <a:cs typeface="Times New Roman" panose="02020603050405020304" pitchFamily="18" charset="0"/>
              </a:rPr>
              <a:t>Dataset:</a:t>
            </a:r>
            <a:endParaRPr lang="en-IN" sz="2000" dirty="0" smtClean="0">
              <a:latin typeface="Times New Roman" panose="02020603050405020304" pitchFamily="18" charset="0"/>
              <a:cs typeface="Times New Roman" panose="02020603050405020304" pitchFamily="18" charset="0"/>
            </a:endParaRPr>
          </a:p>
          <a:p>
            <a:pPr algn="just"/>
            <a:r>
              <a:rPr lang="en-IN" sz="2000" dirty="0" smtClean="0">
                <a:latin typeface="Times New Roman" panose="02020603050405020304" pitchFamily="18" charset="0"/>
                <a:cs typeface="Times New Roman" panose="02020603050405020304" pitchFamily="18" charset="0"/>
              </a:rPr>
              <a:t>            traffic_accidents.csv</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2225" y="516512"/>
            <a:ext cx="4687550" cy="444539"/>
          </a:xfrm>
        </p:spPr>
        <p:txBody>
          <a:bodyPr>
            <a:normAutofit fontScale="90000"/>
          </a:bodyPr>
          <a:lstStyle/>
          <a:p>
            <a:r>
              <a:rPr lang="en-US" dirty="0"/>
              <a:t>   </a:t>
            </a:r>
            <a:r>
              <a:rPr lang="en-US" dirty="0">
                <a:latin typeface="Times New Roman" panose="02020603050405020304" pitchFamily="18" charset="0"/>
                <a:cs typeface="Times New Roman" panose="02020603050405020304" pitchFamily="18" charset="0"/>
              </a:rPr>
              <a:t>IMPLEMENTATION</a:t>
            </a:r>
            <a:r>
              <a:rPr lang="en-US" dirty="0"/>
              <a:t> </a:t>
            </a:r>
            <a:endParaRPr lang="en-IN" dirty="0"/>
          </a:p>
        </p:txBody>
      </p:sp>
      <p:sp>
        <p:nvSpPr>
          <p:cNvPr id="3" name="Content Placeholder 2"/>
          <p:cNvSpPr>
            <a:spLocks noGrp="1"/>
          </p:cNvSpPr>
          <p:nvPr>
            <p:ph idx="1"/>
          </p:nvPr>
        </p:nvSpPr>
        <p:spPr>
          <a:xfrm>
            <a:off x="478453" y="1619239"/>
            <a:ext cx="11504930" cy="4277710"/>
          </a:xfrm>
        </p:spPr>
        <p:txBody>
          <a:bodyPr>
            <a:noAutofit/>
          </a:bodyPr>
          <a:lstStyle/>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Load accident dataset using Pandas.</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Perform data cleaning and handling of missing values.</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Extract time-based features such as hours and days.</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Develop interactive dashboard using Streamlit.</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Implement multiple analysis modules</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Drunk </a:t>
            </a:r>
            <a:r>
              <a:rPr lang="en-US" sz="1600" dirty="0">
                <a:latin typeface="Times New Roman" panose="02020603050405020304" pitchFamily="18" charset="0"/>
                <a:cs typeface="Times New Roman" panose="02020603050405020304" pitchFamily="18" charset="0"/>
              </a:rPr>
              <a:t>Driver Analysis</a:t>
            </a:r>
          </a:p>
          <a:p>
            <a:r>
              <a:rPr lang="en-US" sz="1600" dirty="0" smtClean="0">
                <a:latin typeface="Times New Roman" panose="02020603050405020304" pitchFamily="18" charset="0"/>
                <a:cs typeface="Times New Roman" panose="02020603050405020304" pitchFamily="18" charset="0"/>
              </a:rPr>
              <a:t>Weather-Based </a:t>
            </a:r>
            <a:r>
              <a:rPr lang="en-US" sz="1600" dirty="0">
                <a:latin typeface="Times New Roman" panose="02020603050405020304" pitchFamily="18" charset="0"/>
                <a:cs typeface="Times New Roman" panose="02020603050405020304" pitchFamily="18" charset="0"/>
              </a:rPr>
              <a:t>Analysis</a:t>
            </a:r>
          </a:p>
          <a:p>
            <a:r>
              <a:rPr lang="en-US" sz="1600" dirty="0" smtClean="0">
                <a:latin typeface="Times New Roman" panose="02020603050405020304" pitchFamily="18" charset="0"/>
                <a:cs typeface="Times New Roman" panose="02020603050405020304" pitchFamily="18" charset="0"/>
              </a:rPr>
              <a:t> Road </a:t>
            </a:r>
            <a:r>
              <a:rPr lang="en-US" sz="1600" dirty="0">
                <a:latin typeface="Times New Roman" panose="02020603050405020304" pitchFamily="18" charset="0"/>
                <a:cs typeface="Times New Roman" panose="02020603050405020304" pitchFamily="18" charset="0"/>
              </a:rPr>
              <a:t>and Light Condition Analysis</a:t>
            </a:r>
          </a:p>
          <a:p>
            <a:r>
              <a:rPr lang="en-US" sz="1600" dirty="0" smtClean="0">
                <a:latin typeface="Times New Roman" panose="02020603050405020304" pitchFamily="18" charset="0"/>
                <a:cs typeface="Times New Roman" panose="02020603050405020304" pitchFamily="18" charset="0"/>
              </a:rPr>
              <a:t> Weekly </a:t>
            </a:r>
            <a:r>
              <a:rPr lang="en-US" sz="1600" dirty="0">
                <a:latin typeface="Times New Roman" panose="02020603050405020304" pitchFamily="18" charset="0"/>
                <a:cs typeface="Times New Roman" panose="02020603050405020304" pitchFamily="18" charset="0"/>
              </a:rPr>
              <a:t>and Hourly Accident </a:t>
            </a:r>
            <a:r>
              <a:rPr lang="en-US" sz="1600" dirty="0" smtClean="0">
                <a:latin typeface="Times New Roman" panose="02020603050405020304" pitchFamily="18" charset="0"/>
                <a:cs typeface="Times New Roman" panose="02020603050405020304" pitchFamily="18" charset="0"/>
              </a:rPr>
              <a:t>Trends</a:t>
            </a:r>
          </a:p>
          <a:p>
            <a:r>
              <a:rPr lang="en-US" sz="1600" dirty="0" smtClean="0">
                <a:latin typeface="Times New Roman" panose="02020603050405020304" pitchFamily="18" charset="0"/>
                <a:cs typeface="Times New Roman" panose="02020603050405020304" pitchFamily="18" charset="0"/>
              </a:rPr>
              <a:t>Accident peak hours</a:t>
            </a:r>
            <a:endParaRPr lang="en-US" sz="1600" dirty="0">
              <a:latin typeface="Times New Roman" panose="02020603050405020304" pitchFamily="18" charset="0"/>
              <a:cs typeface="Times New Roman" panose="02020603050405020304" pitchFamily="18" charset="0"/>
            </a:endParaRPr>
          </a:p>
          <a:p>
            <a:pPr marL="342900" indent="-342900">
              <a:buFont typeface="+mj-lt"/>
              <a:buAutoNum type="arabicPeriod" startAt="6"/>
            </a:pPr>
            <a:r>
              <a:rPr lang="en-US" sz="1600" dirty="0">
                <a:latin typeface="Times New Roman" panose="02020603050405020304" pitchFamily="18" charset="0"/>
                <a:cs typeface="Times New Roman" panose="02020603050405020304" pitchFamily="18" charset="0"/>
              </a:rPr>
              <a:t>Display insights using interactive charts and graphs.</a:t>
            </a:r>
          </a:p>
          <a:p>
            <a:pPr marL="457200" indent="-457200" algn="just">
              <a:buAutoNum type="arabicPeriod" startAt="6"/>
            </a:pP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249555"/>
            <a:ext cx="10353675" cy="1014095"/>
          </a:xfrm>
        </p:spPr>
        <p:txBody>
          <a:bodyPr/>
          <a:lstStyle/>
          <a:p>
            <a:r>
              <a:rPr lang="en-US" dirty="0">
                <a:latin typeface="Times New Roman" panose="02020603050405020304" pitchFamily="18" charset="0"/>
                <a:cs typeface="Times New Roman" panose="02020603050405020304" pitchFamily="18" charset="0"/>
              </a:rPr>
              <a:t>RESULTS</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188" y="1245153"/>
            <a:ext cx="11404788" cy="5069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835" y="517585"/>
            <a:ext cx="11402904" cy="5844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206" y="668345"/>
            <a:ext cx="11134610" cy="5711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7304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621" y="474452"/>
            <a:ext cx="11384063" cy="5945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8763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639" y="612559"/>
            <a:ext cx="11268327" cy="5551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762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416" y="439947"/>
            <a:ext cx="11707747" cy="6142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669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609600"/>
            <a:ext cx="10353675" cy="935355"/>
          </a:xfrm>
        </p:spPr>
        <p:txBody>
          <a:bodyPr/>
          <a:lstStyle/>
          <a:p>
            <a:pPr algn="just"/>
            <a:r>
              <a:rPr lang="en-US" dirty="0">
                <a:latin typeface="Times New Roman" panose="02020603050405020304" pitchFamily="18" charset="0"/>
                <a:cs typeface="Times New Roman" panose="02020603050405020304" pitchFamily="18" charset="0"/>
              </a:rPr>
              <a:t>                               CONCLUSION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2130" y="1890822"/>
            <a:ext cx="11127740" cy="4164745"/>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Traffic Accident Data Analysis System demonstrates the effective use of data science techniques for analyzing real-world traffic accident data. By combining Python, Pandas, Plotly, and Streamlit, the project delivers meaningful insights through an interactive and user-friendly interface. The system helps identify critical accident patterns and supports initiatives aimed at reducing road accidents and improving public safety.</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505455"/>
            <a:ext cx="10353761" cy="985839"/>
          </a:xfrm>
        </p:spPr>
        <p:txBody>
          <a:bodyPr>
            <a:normAutofit/>
          </a:bodyPr>
          <a:lstStyle/>
          <a:p>
            <a:r>
              <a:rPr lang="en-US" dirty="0">
                <a:latin typeface="Times New Roman" panose="02020603050405020304" pitchFamily="18" charset="0"/>
                <a:cs typeface="Times New Roman" panose="02020603050405020304" pitchFamily="18" charset="0"/>
              </a:rPr>
              <a:t>  FUTURE ENHANCEMENTS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3795" y="1860485"/>
            <a:ext cx="9962683" cy="3999140"/>
          </a:xfrm>
        </p:spPr>
        <p:txBody>
          <a:bodyPr>
            <a:normAutofit/>
          </a:bodyPr>
          <a:lstStyle/>
          <a:p>
            <a:r>
              <a:rPr lang="en-US" sz="2400" dirty="0">
                <a:latin typeface="Times New Roman" panose="02020603050405020304" pitchFamily="18" charset="0"/>
                <a:cs typeface="Times New Roman" panose="02020603050405020304" pitchFamily="18" charset="0"/>
              </a:rPr>
              <a:t>Integration of real-time accident data</a:t>
            </a:r>
          </a:p>
          <a:p>
            <a:r>
              <a:rPr lang="en-US" sz="2400" dirty="0">
                <a:latin typeface="Times New Roman" panose="02020603050405020304" pitchFamily="18" charset="0"/>
                <a:cs typeface="Times New Roman" panose="02020603050405020304" pitchFamily="18" charset="0"/>
              </a:rPr>
              <a:t>Location-based accident analysis using maps</a:t>
            </a:r>
          </a:p>
          <a:p>
            <a:r>
              <a:rPr lang="en-US" sz="2400" dirty="0">
                <a:latin typeface="Times New Roman" panose="02020603050405020304" pitchFamily="18" charset="0"/>
                <a:cs typeface="Times New Roman" panose="02020603050405020304" pitchFamily="18" charset="0"/>
              </a:rPr>
              <a:t>Predictive analysis for accident-prone areas</a:t>
            </a:r>
          </a:p>
          <a:p>
            <a:r>
              <a:rPr lang="en-US" sz="2400" dirty="0">
                <a:latin typeface="Times New Roman" panose="02020603050405020304" pitchFamily="18" charset="0"/>
                <a:cs typeface="Times New Roman" panose="02020603050405020304" pitchFamily="18" charset="0"/>
              </a:rPr>
              <a:t>Integration with government traffic databases</a:t>
            </a:r>
          </a:p>
          <a:p>
            <a:r>
              <a:rPr lang="en-US" sz="2400" dirty="0">
                <a:latin typeface="Times New Roman" panose="02020603050405020304" pitchFamily="18" charset="0"/>
                <a:cs typeface="Times New Roman" panose="02020603050405020304" pitchFamily="18" charset="0"/>
              </a:rPr>
              <a:t>Mobile-friendly dashboard interface</a:t>
            </a:r>
          </a:p>
          <a:p>
            <a:pPr marL="0" indent="0">
              <a:buNone/>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290" y="624205"/>
            <a:ext cx="8801100" cy="915035"/>
          </a:xfrm>
        </p:spPr>
        <p:txBody>
          <a:bodyPr/>
          <a:lstStyle/>
          <a:p>
            <a:pPr algn="just"/>
            <a:r>
              <a:rPr lang="en-US" dirty="0"/>
              <a:t>                      </a:t>
            </a:r>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35698" y="2226108"/>
            <a:ext cx="10524931" cy="2681793"/>
          </a:xfrm>
        </p:spPr>
        <p:txBody>
          <a:bodyPr>
            <a:normAutofit/>
          </a:bodyPr>
          <a:lstStyle/>
          <a:p>
            <a:r>
              <a:rPr lang="fr-FR" sz="2400" dirty="0">
                <a:latin typeface="Times New Roman" panose="02020603050405020304" pitchFamily="18" charset="0"/>
                <a:cs typeface="Times New Roman" panose="02020603050405020304" pitchFamily="18" charset="0"/>
              </a:rPr>
              <a:t>Python Documentation – </a:t>
            </a:r>
            <a:r>
              <a:rPr lang="fr-FR" sz="2400" dirty="0">
                <a:latin typeface="Times New Roman" panose="02020603050405020304" pitchFamily="18" charset="0"/>
                <a:cs typeface="Times New Roman" panose="02020603050405020304" pitchFamily="18" charset="0"/>
                <a:hlinkClick r:id="rId2"/>
              </a:rPr>
              <a:t>https://docs.python.org</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Pandas Documentation – </a:t>
            </a:r>
            <a:r>
              <a:rPr lang="fr-FR" sz="2400" dirty="0">
                <a:latin typeface="Times New Roman" panose="02020603050405020304" pitchFamily="18" charset="0"/>
                <a:cs typeface="Times New Roman" panose="02020603050405020304" pitchFamily="18" charset="0"/>
                <a:hlinkClick r:id="rId3"/>
              </a:rPr>
              <a:t>https://pandas.pydata.org</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Plotly Documentation – </a:t>
            </a:r>
            <a:r>
              <a:rPr lang="fr-FR" sz="2400" dirty="0">
                <a:latin typeface="Times New Roman" panose="02020603050405020304" pitchFamily="18" charset="0"/>
                <a:cs typeface="Times New Roman" panose="02020603050405020304" pitchFamily="18" charset="0"/>
                <a:hlinkClick r:id="rId4"/>
              </a:rPr>
              <a:t>https://plotly.com</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Streamlit Documentation – </a:t>
            </a:r>
            <a:r>
              <a:rPr lang="fr-FR" sz="2400" dirty="0">
                <a:latin typeface="Times New Roman" panose="02020603050405020304" pitchFamily="18" charset="0"/>
                <a:cs typeface="Times New Roman" panose="02020603050405020304" pitchFamily="18" charset="0"/>
                <a:hlinkClick r:id="rId5"/>
              </a:rPr>
              <a:t>https://streamlit.io</a:t>
            </a:r>
            <a:endParaRPr lang="fr-FR" sz="2400" dirty="0">
              <a:latin typeface="Times New Roman" panose="02020603050405020304" pitchFamily="18" charset="0"/>
              <a:cs typeface="Times New Roman" panose="02020603050405020304" pitchFamily="18" charset="0"/>
            </a:endParaRPr>
          </a:p>
          <a:p>
            <a:pPr marL="0" indent="0">
              <a:buNone/>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3110"/>
            <a:ext cx="10049510" cy="5424170"/>
          </a:xfrm>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lgn="just">
              <a:buNone/>
            </a:pPr>
            <a:r>
              <a:rPr lang="en-IN" dirty="0"/>
              <a:t>                                         </a:t>
            </a:r>
            <a:r>
              <a:rPr lang="en-IN" dirty="0">
                <a:latin typeface="Times New Roman" panose="02020603050405020304" pitchFamily="18" charset="0"/>
                <a:cs typeface="Times New Roman" panose="02020603050405020304" pitchFamily="18" charset="0"/>
              </a:rPr>
              <a:t> </a:t>
            </a:r>
            <a:r>
              <a:rPr lang="en-IN" sz="6000"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fillRect/>
          </a:stretch>
        </a:blip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129</TotalTime>
  <Words>377</Words>
  <Application>Microsoft Office PowerPoint</Application>
  <PresentationFormat>Custom</PresentationFormat>
  <Paragraphs>74</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Damask</vt:lpstr>
      <vt:lpstr>accidents data analysis system</vt:lpstr>
      <vt:lpstr>PowerPoint Presentation</vt:lpstr>
      <vt:lpstr>                           ABSTRACT</vt:lpstr>
      <vt:lpstr>               EXISTING SYSTEM</vt:lpstr>
      <vt:lpstr>    PROPOSED SYSTEM</vt:lpstr>
      <vt:lpstr>         SOFTWARE REQUIREMENTS</vt:lpstr>
      <vt:lpstr>   IMPLEMENTATION </vt:lpstr>
      <vt:lpstr>RESULTS</vt:lpstr>
      <vt:lpstr>PowerPoint Presentation</vt:lpstr>
      <vt:lpstr>PowerPoint Presentation</vt:lpstr>
      <vt:lpstr>PowerPoint Presentation</vt:lpstr>
      <vt:lpstr>PowerPoint Presentation</vt:lpstr>
      <vt:lpstr>PowerPoint Presentation</vt:lpstr>
      <vt:lpstr>                               CONCLUSION</vt:lpstr>
      <vt:lpstr>  FUTURE ENHANCEMENTS  </vt:lpstr>
      <vt:lpstr>                      REFERENCES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GAYATRI VIDYA PARISHAD COLLEGE OF ENGINEERING FOR WOMEN                                           DEPARTMENT OF INFORMATION TECHNOLOGY</dc:title>
  <dc:creator>t.deepika</dc:creator>
  <cp:lastModifiedBy>win 10</cp:lastModifiedBy>
  <cp:revision>18</cp:revision>
  <dcterms:created xsi:type="dcterms:W3CDTF">2023-12-12T03:40:00Z</dcterms:created>
  <dcterms:modified xsi:type="dcterms:W3CDTF">2025-12-29T06:46:05Z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F0826DB0AC3449598BF7967255D7C4D7_12</vt:lpwstr>
  </property>
  <property fmtid="{D5CDD505-2E9C-101B-9397-08002B2CF9AE}" pid="3" name="KSOProductBuildVer">
    <vt:lpwstr>1033-12.2.0.19307</vt:lpwstr>
  </property>
</Properties>
</file>